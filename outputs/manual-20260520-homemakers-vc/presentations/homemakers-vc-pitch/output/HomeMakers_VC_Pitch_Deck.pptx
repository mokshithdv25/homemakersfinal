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8bf7b1803407d" /><Relationship Type="http://schemas.openxmlformats.org/officeDocument/2006/relationships/extended-properties" Target="/docProps/app.xml" Id="R9f94a96e8f8e43bb" /><Relationship Type="http://schemas.openxmlformats.org/officeDocument/2006/relationships/officeDocument" Target="/ppt/presentation.xml" Id="R89799d4de8884e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a7d04ce7914ab2"/>
  </p:sldMasterIdLst>
  <p:notesMasterIdLst>
    <p:notesMasterId xmlns:r="http://schemas.openxmlformats.org/officeDocument/2006/relationships" r:id="R571f0ca676814ff0"/>
  </p:notesMasterIdLst>
  <p:sldIdLst>
    <p:sldId xmlns:r="http://schemas.openxmlformats.org/officeDocument/2006/relationships" id="256" r:id="R3c6a9d0c64044714"/>
    <p:sldId xmlns:r="http://schemas.openxmlformats.org/officeDocument/2006/relationships" id="257" r:id="R8ccd01acad7a401c"/>
    <p:sldId xmlns:r="http://schemas.openxmlformats.org/officeDocument/2006/relationships" id="258" r:id="Rf28239a43c144cfe"/>
    <p:sldId xmlns:r="http://schemas.openxmlformats.org/officeDocument/2006/relationships" id="259" r:id="Rd5038618d9bb43b6"/>
    <p:sldId xmlns:r="http://schemas.openxmlformats.org/officeDocument/2006/relationships" id="260" r:id="Rfd64943e974f43fb"/>
    <p:sldId xmlns:r="http://schemas.openxmlformats.org/officeDocument/2006/relationships" id="261" r:id="R8eefdfd4672d4856"/>
    <p:sldId xmlns:r="http://schemas.openxmlformats.org/officeDocument/2006/relationships" id="262" r:id="Ra4165d94cfa34d1a"/>
    <p:sldId xmlns:r="http://schemas.openxmlformats.org/officeDocument/2006/relationships" id="263" r:id="Rbdf24f964e484ce5"/>
    <p:sldId xmlns:r="http://schemas.openxmlformats.org/officeDocument/2006/relationships" id="264" r:id="R5e60d8b78bda4348"/>
    <p:sldId xmlns:r="http://schemas.openxmlformats.org/officeDocument/2006/relationships" id="265" r:id="R492bf0f93b6d4516"/>
    <p:sldId xmlns:r="http://schemas.openxmlformats.org/officeDocument/2006/relationships" id="266" r:id="R43b5c7948faa49ce"/>
    <p:sldId xmlns:r="http://schemas.openxmlformats.org/officeDocument/2006/relationships" id="267" r:id="Rd5a4a4ae9c0e4e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7d04ce7914ab2" /><Relationship Type="http://schemas.openxmlformats.org/officeDocument/2006/relationships/theme" Target="/ppt/theme/theme1.xml" Id="R7b6e85ffa2ea4172" /><Relationship Type="http://schemas.openxmlformats.org/officeDocument/2006/relationships/notesMaster" Target="/ppt/notesMasters/notesMaster1.xml" Id="R571f0ca676814ff0" /><Relationship Type="http://schemas.openxmlformats.org/officeDocument/2006/relationships/presProps" Target="/ppt/presProps.xml" Id="R285a0cd9b4554122" /><Relationship Type="http://schemas.openxmlformats.org/officeDocument/2006/relationships/viewProps" Target="/ppt/viewProps.xml" Id="Rfa829cd0c28f4091" /><Relationship Type="http://schemas.openxmlformats.org/officeDocument/2006/relationships/tableStyles" Target="/ppt/tableStyles.xml" Id="Rbedf3b3e9b07460b" /><Relationship Type="http://schemas.openxmlformats.org/officeDocument/2006/relationships/slide" Target="/ppt/slides/slide1.xml" Id="R3c6a9d0c64044714" /><Relationship Type="http://schemas.openxmlformats.org/officeDocument/2006/relationships/slide" Target="/ppt/slides/slide2.xml" Id="R8ccd01acad7a401c" /><Relationship Type="http://schemas.openxmlformats.org/officeDocument/2006/relationships/slide" Target="/ppt/slides/slide3.xml" Id="Rf28239a43c144cfe" /><Relationship Type="http://schemas.openxmlformats.org/officeDocument/2006/relationships/slide" Target="/ppt/slides/slide4.xml" Id="Rd5038618d9bb43b6" /><Relationship Type="http://schemas.openxmlformats.org/officeDocument/2006/relationships/slide" Target="/ppt/slides/slide5.xml" Id="Rfd64943e974f43fb" /><Relationship Type="http://schemas.openxmlformats.org/officeDocument/2006/relationships/slide" Target="/ppt/slides/slide6.xml" Id="R8eefdfd4672d4856" /><Relationship Type="http://schemas.openxmlformats.org/officeDocument/2006/relationships/slide" Target="/ppt/slides/slide7.xml" Id="Ra4165d94cfa34d1a" /><Relationship Type="http://schemas.openxmlformats.org/officeDocument/2006/relationships/slide" Target="/ppt/slides/slide8.xml" Id="Rbdf24f964e484ce5" /><Relationship Type="http://schemas.openxmlformats.org/officeDocument/2006/relationships/slide" Target="/ppt/slides/slide9.xml" Id="R5e60d8b78bda4348" /><Relationship Type="http://schemas.openxmlformats.org/officeDocument/2006/relationships/slide" Target="/ppt/slides/slide10.xml" Id="R492bf0f93b6d4516" /><Relationship Type="http://schemas.openxmlformats.org/officeDocument/2006/relationships/slide" Target="/ppt/slides/slide11.xml" Id="R43b5c7948faa49ce" /><Relationship Type="http://schemas.openxmlformats.org/officeDocument/2006/relationships/slide" Target="/ppt/slides/slide12.xml" Id="Rd5a4a4ae9c0e4e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51046c8b7e54d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9f6b5b3a442cf" /><Relationship Type="http://schemas.openxmlformats.org/officeDocument/2006/relationships/notesMaster" Target="/ppt/notesMasters/notesMaster1.xml" Id="R081c5da9eb494b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a92b2ed6b4c6d" /><Relationship Type="http://schemas.openxmlformats.org/officeDocument/2006/relationships/notesMaster" Target="/ppt/notesMasters/notesMaster1.xml" Id="R7b0dabb57f5847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a1308880d6474d" /><Relationship Type="http://schemas.openxmlformats.org/officeDocument/2006/relationships/notesMaster" Target="/ppt/notesMasters/notesMaster1.xml" Id="R1680c1861c3649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1457c18f94294" /><Relationship Type="http://schemas.openxmlformats.org/officeDocument/2006/relationships/notesMaster" Target="/ppt/notesMasters/notesMaster1.xml" Id="Rb7caee3f980145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0b6147b4b44d5d" /><Relationship Type="http://schemas.openxmlformats.org/officeDocument/2006/relationships/notesMaster" Target="/ppt/notesMasters/notesMaster1.xml" Id="R637db03d65fd43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3a12ce70174789" /><Relationship Type="http://schemas.openxmlformats.org/officeDocument/2006/relationships/notesMaster" Target="/ppt/notesMasters/notesMaster1.xml" Id="R6717143b97c246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667b97f1174fce" /><Relationship Type="http://schemas.openxmlformats.org/officeDocument/2006/relationships/notesMaster" Target="/ppt/notesMasters/notesMaster1.xml" Id="R8ec69adb5ae241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181fffa73540cb" /><Relationship Type="http://schemas.openxmlformats.org/officeDocument/2006/relationships/notesMaster" Target="/ppt/notesMasters/notesMaster1.xml" Id="R15668c54006944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d72cca2a99419b" /><Relationship Type="http://schemas.openxmlformats.org/officeDocument/2006/relationships/notesMaster" Target="/ppt/notesMasters/notesMaster1.xml" Id="R3224249aeecf42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23c441fcf64c40" /><Relationship Type="http://schemas.openxmlformats.org/officeDocument/2006/relationships/notesMaster" Target="/ppt/notesMasters/notesMaster1.xml" Id="R320667f2f67e4e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f7e8419b7943bc" /><Relationship Type="http://schemas.openxmlformats.org/officeDocument/2006/relationships/notesMaster" Target="/ppt/notesMasters/notesMaster1.xml" Id="Rfff9c5e3e31c4f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7c3026c1eb479d" /><Relationship Type="http://schemas.openxmlformats.org/officeDocument/2006/relationships/notesMaster" Target="/ppt/notesMasters/notesMaster1.xml" Id="R878af1c13995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74469d1e643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0b8127db02d4c32" /><Relationship Type="http://schemas.openxmlformats.org/officeDocument/2006/relationships/slideLayout" Target="/ppt/slideLayouts/slideLayout2.xml" Id="R4bb2484fdf4b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b2484fdf4b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6e3a314304d3e" /><Relationship Type="http://schemas.openxmlformats.org/officeDocument/2006/relationships/image" Target="/ppt/media/image.png" Id="Rf83f523b43bd4a06" /><Relationship Type="http://schemas.openxmlformats.org/officeDocument/2006/relationships/notesSlide" Target="/ppt/notesSlides/notesSlide1.xml" Id="Ra2486b91d3c044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a4098a9304ee7" /><Relationship Type="http://schemas.openxmlformats.org/officeDocument/2006/relationships/notesSlide" Target="/ppt/notesSlides/notesSlide2.xml" Id="R10f4706598d248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acdaf3b3e3461f" /><Relationship Type="http://schemas.openxmlformats.org/officeDocument/2006/relationships/notesSlide" Target="/ppt/notesSlides/notesSlide3.xml" Id="R235eadcb79b34c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7d58079564a61" /><Relationship Type="http://schemas.openxmlformats.org/officeDocument/2006/relationships/notesSlide" Target="/ppt/notesSlides/notesSlide4.xml" Id="R969096a1cc66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a762c9d81944b5" /><Relationship Type="http://schemas.openxmlformats.org/officeDocument/2006/relationships/notesSlide" Target="/ppt/notesSlides/notesSlide5.xml" Id="Rce6d6d0b3be146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90ba4b9bf4b6a" /><Relationship Type="http://schemas.openxmlformats.org/officeDocument/2006/relationships/notesSlide" Target="/ppt/notesSlides/notesSlide6.xml" Id="R536bda4f611040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be926679ec431c" /><Relationship Type="http://schemas.openxmlformats.org/officeDocument/2006/relationships/notesSlide" Target="/ppt/notesSlides/notesSlide7.xml" Id="Ree341f9d2759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160d0af0b4d70" /><Relationship Type="http://schemas.openxmlformats.org/officeDocument/2006/relationships/notesSlide" Target="/ppt/notesSlides/notesSlide8.xml" Id="R452c8a05dbc543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7ac1b635f4d4f" /><Relationship Type="http://schemas.openxmlformats.org/officeDocument/2006/relationships/notesSlide" Target="/ppt/notesSlides/notesSlide9.xml" Id="R3b1b864b54804f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1ba78dc284d25" /><Relationship Type="http://schemas.openxmlformats.org/officeDocument/2006/relationships/notesSlide" Target="/ppt/notesSlides/notesSlide10.xml" Id="R9ed35dd1153a40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747ac67694ad7" /><Relationship Type="http://schemas.openxmlformats.org/officeDocument/2006/relationships/notesSlide" Target="/ppt/notesSlides/notesSlide11.xml" Id="Rd304b154639e4f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6f8e422244780" /><Relationship Type="http://schemas.openxmlformats.org/officeDocument/2006/relationships/notesSlide" Target="/ppt/notesSlides/notesSlide12.xml" Id="Rc51660fc340744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F7B1D-84DA-4DD5-9B66-BF5910D1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3"/>
          </a:solidFill>
          <a:ln xmlns:a="http://schemas.openxmlformats.org/drawingml/2006/main" w="0">
            <a:solidFill>
              <a:srgbClr val="1715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5645B-F030-4751-BB3C-70E51D7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CEE90-A3C9-476D-816F-14F4557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93B"/>
          </a:solidFill>
          <a:ln xmlns:a="http://schemas.openxmlformats.org/drawingml/2006/main" w="0">
            <a:solidFill>
              <a:srgbClr val="5A493B"/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C8BF6034-B8D3-4FA8-9551-91424A1F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755C4DD-C954-4B7C-B76B-EEEE917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rPr>
              <a:t>SEED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24BBE-4112-4393-BB23-97CD9F14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HomeMakers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B1413-0708-47E4-A887-A03A3853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477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The operating layer before Indian homes are built or renovated.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3BA97-B249-483B-81B0-E35762D4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EC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CEC4"/>
                </a:solidFill>
                <a:latin typeface="Avenir Next"/>
                <a:ea typeface="Avenir Next"/>
                <a:cs typeface="Avenir Next"/>
              </a:rPr>
              <a:t>Structured briefs, approval-grade estimates, scope lock, project room, and trusted professional workflows for the homeowners who still run high-stakes projects through chat.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ED018-A3C9-4051-B12B-AF6ED1B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2A549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E2A549"/>
                </a:solidFill>
                <a:latin typeface="Georgia"/>
                <a:ea typeface="Georgia"/>
                <a:cs typeface="Georgia"/>
              </a:rPr>
              <a:t>Raising $4.5M-$6.0M 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B8664-4D88-4BCF-B322-2FC9D26F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C9B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6C9BD"/>
                </a:solidFill>
                <a:latin typeface="Avenir Next"/>
                <a:ea typeface="Avenir Next"/>
                <a:cs typeface="Avenir Next"/>
              </a:rPr>
              <a:t>18-24 months to paid clarity proof, city-one GTM, and the first execution-layer revenue lines.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0139E-9983-4FC4-8046-A8788006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20CF7-C5B0-4D3E-843B-C25B3E7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C91E2-51DE-461D-999F-31C25DC0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3352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$0.79T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D01F5-6AD8-48BC-A396-52C68F38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2882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India construction market in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78517-66C5-4F24-8F5A-559B9016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98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Mordor Intelligence, Jan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8364C-C1D6-445A-8D49-37A0EFA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A2B0F-AF9D-483D-9C0F-429DF64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49C"/>
          </a:solidFill>
          <a:ln xmlns:a="http://schemas.openxmlformats.org/drawingml/2006/main" w="0">
            <a:solidFill>
              <a:srgbClr val="6AB4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FD666-633F-4711-A0B2-C6BF324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6227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&lt;1%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D14D1-1F83-4810-BCE9-E6823D2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online home services penetration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3824C-D9F6-4EE8-AD8D-C098F01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Redseer / IBEF, FY25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4FD63-911E-4B76-ACD9-E5D41796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1CF65-07B8-427C-AF99-CADD6CC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F2A0A-BFDA-4614-B9BB-116F2BF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$1.5B+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FC081-B3A5-41D0-BF3D-88E2EAD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8632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credible coordination layer wedge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CF53E-9685-4947-A97B-7E4E8223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673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Internal Design Compass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55F19-9BEC-44C1-A5B7-48A10302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rPr>
              <a:t>Sources: Mordor Intelligence 2026; Redseer via IBEF 2025; internal Design Compass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C9FA0-4976-47C6-84DE-B28D0BA2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2A54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E2A54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f523b43bd4a06"/>
          <a:stretch xmlns:a="http://schemas.openxmlformats.org/drawingml/2006/main"/>
        </p:blipFill>
        <p:spPr>
          <a:xfrm xmlns:a="http://schemas.openxmlformats.org/drawingml/2006/main">
            <a:off x="666750" y="784860"/>
            <a:ext cx="533400" cy="373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344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02A058-AE61-458F-A272-3D839BB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60183-3048-4296-89CA-DED165C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B7D1-FE99-47B6-A50A-B115F7DF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5A01D-29DC-42A7-8647-666E0A3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072C1C1-0947-45AB-B6EC-6473A37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C3AD37C-AD37-4D86-BBA6-83E3F3A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STATUS QUO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11FC7-530E-408E-B2DF-17721963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default path is still WhatsApp, vague quotes, and cash advances.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B8EFC-BC13-4E53-BF42-8AB595E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The pain is not inspiration scarcity. It is the absence of a shared truth before work starts.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4A502-1FA0-4EBC-968B-774786B7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D338F-0BA1-4F91-AFF2-9C04160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B503A-A28F-4CE1-AC8D-32B9776F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Ask friends for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E7880-84BF-405F-AFE5-ADEB121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53ACB-B5FA-4C57-B91D-2F579C3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Contractor says: come and 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887F-9F97-45C7-A455-FF1180E8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A5966-D1D5-42AD-8211-5562A0A1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Verbal scope and loose quote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23643-C8CB-4990-97BA-1B1E795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7051F-AE56-4A4A-80C0-875DC0BC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Advance paid before clarity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D1C71-853C-46FD-BAA2-4E5B1B2F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B9717-64B5-4355-BEC5-2E9B583E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Daily scope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CC567-FE81-4914-AC57-2CAE0A6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40EAA-C82C-4B51-B4A8-D542C38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Budget fights and delays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07AE1-3366-4169-AA34-728D8FD5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A06FA-1010-459B-9D1A-1F13E84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Never doing this again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11FBA-0384-4C83-A3A4-92551A3B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71950"/>
            <a:ext cx="3619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D5"/>
          </a:solidFill>
          <a:ln xmlns:a="http://schemas.openxmlformats.org/drawingml/2006/main" w="9525">
            <a:solidFill>
              <a:srgbClr val="D9C6B5"/>
            </a:solidFill>
            <a:prstDash val="solid"/>
          </a:ln>
        </p:spPr>
        <p:txBody>
          <a:bodyPr xmlns:a="http://schemas.openxmlformats.org/drawingml/2006/main" lIns="209550" tIns="190500" rIns="209550" bIns="1714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What HomeMakers replaces</a:t>
            </a:r>
          </a:p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Clear estimate -&gt; locked scope -&gt; visible milestones -&gt; project room with documents, team, and budget.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96CC1-2DD8-4381-877C-3228E90E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Real competitor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B9DA0-608A-4B58-B767-FE35AADD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Informal process, not only apps.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3A78D-4C75-407B-ACB4-30EBD50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docs/INVESTOR_PITCH.md; Design Compass business implementation plan.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9825A9-4D46-4F83-9578-983A142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3690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976D2F-9851-4533-8851-DB93C95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B5C94-D3CA-41E6-8AA9-2F65ABB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6071A-602B-48B2-A5C1-74AA1A1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6CA15-0603-47A5-9EBF-9543E326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5FBC7DA3-247E-46DA-9DB4-E4FB681A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1FFA091-BB2C-4618-A751-2247786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788A3-04C9-4BD4-8432-5736455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We are not chasing managed-interior buyers; we serve the control-seeking long 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B755D-5DEF-4E68-BB30-87235FE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Market split by job-to-be-done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078B9-11E7-441A-AACE-E2251C9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5-10%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B5EB3-47EE-4A02-ADC5-799C08F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955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fully managed interior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90CBA-CF86-4DEE-92E5-D9F7F9E8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5621B-2960-4DF7-A774-D6D5FA88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1AFF2-ECDB-4EDB-94C9-F50D3FE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82-90%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B14D9-2840-4160-95FE-CBE8B94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independent architects, contractors, and local builders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BCBF9-7E51-4E19-9BB4-91ABB1CE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B5DDD-BD8E-4555-9611-F42A90D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90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E6FD2-1561-4818-B96D-CD04008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Launch ICP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9D13B-C8AF-4B05-9DCD-F8CBCFB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C6444-4D1A-446C-9CBB-642F9DE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Young couple renovating 2BHK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D84A6-F91C-4280-BC3E-BC847DD5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10-30L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17454-E88F-4848-89A9-D30B8BAD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No contacts, no cost clarity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9F02A-EF58-477A-8109-6438530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71416-285C-4A0C-840E-61CF41BB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Family building independent house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76914-BE35-4BE4-B4E5-425B310F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30L-1.5Cr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A6D1F-6C85-4891-A5C3-353449D7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Scope creep and documentation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5E2E6-64A8-4826-A1E4-14CBA8F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95F36-F020-4CB9-B4A6-F2B682E9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NRI renovating remotely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127C2-5EAA-4730-946E-86364F4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15-50L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403EC-1F43-41A3-B572-E986BB0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Visibility, trust, and payment anxiety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17A27-8DDD-4EFC-8310-1081109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66F6EE-DFF2-4FB7-9D93-9306C0D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Kitchen / room upgrade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97CED-FA2A-4C78-A85D-8012018F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5-15L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58AB7B-5931-4639-8360-8E3D9AC5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Unclear inclusions and comparisons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AEDEA-0213-49B6-BE3D-A18098C0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Design Compass target customer section; homemakers-1 investor pitch.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581355-4ABC-4080-93FB-2BA835F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8977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9C09C-7C71-47FF-B924-41EE3602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B7573-7137-425C-9614-3499146A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9BE88-6F78-4133-9923-08AD9AF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C0E9D-E4CC-4651-B17D-53DB122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7943153C-122C-4BC8-83BC-BCC6C4A2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2C28DD30-349B-4239-B61C-C5F2CF25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74B85-5433-463F-9B54-E84BE1B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A huge construction market is moving online from a tiny 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AE7DE-A9F4-4708-AF06-6893632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6B7"/>
          </a:solidFill>
          <a:ln xmlns:a="http://schemas.openxmlformats.org/drawingml/2006/main" w="0">
            <a:solidFill>
              <a:srgbClr val="D4C6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5542F-DFD4-4DA8-BE7C-A9C9AEF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83888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F347-F289-4D72-891F-C1FD96EA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8460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India construction market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C103C-1FE4-4B10-AA17-2C96129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33" y="24669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$0.79T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DCF7-173C-4FFA-BA43-734B353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33" y="28098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198FF-5A0E-45E4-AC9E-DB9B4D5A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6B7"/>
          </a:solidFill>
          <a:ln xmlns:a="http://schemas.openxmlformats.org/drawingml/2006/main" w="0">
            <a:solidFill>
              <a:srgbClr val="D4C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FF70B-A9EF-4B94-9413-26EA7289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3952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E3A8D-FB46-4EBF-8307-4DCF13CE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28460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Projected market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F754-344A-462C-A24F-9254BB5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052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$1.10T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B8E68-744C-47F9-9500-66392EC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FBF0A-A293-4250-B1CD-B8A40B9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6.87% CAGR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6C158-9E6D-432D-9309-CC5BFAF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2026-2031 construction market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187A2-0E7C-4EA5-93FC-F2D8D52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5CD71-F9D5-4502-805C-01FE9C3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0DCFB-0A72-4211-85FA-4A5831F8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2880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44.68%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DF88D-07F4-4FC8-A6DA-4799FBB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residential share of India construction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8B390-4E23-48A9-A186-D88FD53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1DD35-69FB-4E65-88E4-021A249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E1A-A85B-4A20-80FF-4C237B3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9D1D4-FE2A-4FB9-8D91-A10F4DA5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2880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7.96%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55877-A631-4E75-B4F5-EB87615B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renovation CAGR to 2031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55ADB5-593B-45ED-9932-1CBF0AD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fastest-growing sub-segment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C0E73-0A51-4014-A3BB-FF460AE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BC6A3-1B6C-433A-95C1-27D7024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D5D2D-D54A-4C97-B1CF-511A6E66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&lt;1%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4CF40B-1822-498B-A974-1DDE7B88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online home services NTV penetration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3E2E8B-5A4F-46FB-AE63-4DA72E6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FY25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C9B63-B1E0-4D13-9FCC-8DA0423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EBD1E8-F685-4482-96F8-24C7809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C140C-65C8-42D1-A84F-EF1DA1E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18-22%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FC8FFC-9360-4CCA-BCAA-13E5D873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online home services CAGR to FY30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56279-905D-4C95-8235-10FF56B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Redseer / IBEF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06BC43-1F61-4E7B-8829-7EEEE7A7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438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HomeMakers enters where digitization is still early: before homeowners select a pro, approve scope, or put money at risk.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9BBE73-7A10-433A-95EB-DAAB4DD7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Mordor Intelligence India Construction Market, Jan 2026; Redseer Strategy Consultants via IBEF, FY25.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10316B-2C3F-4C6F-B90E-32D69EA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1620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A6C11-3759-4FE8-8D6C-C7D5E01E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580C-87AF-44A9-9CB8-333EDED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A22FC-A0CF-4BA3-8FE8-624C263C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33E44-8A21-41FE-A52A-0ABDB46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4DFF228-A9C4-4E94-93AA-DE06C5F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184D4B2-DF1D-4281-B07F-09376980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PRODUCT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A818F-CBB9-4516-BC35-1475D40A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HomeMakers converts first intent into a project graph everyone can trust.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C8BBA-00D3-4A93-A63A-6FF5EBC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1. Brief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rooms, plot, Vastu, style, 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C1F47-A9C8-4B32-9E15-F0FDE9D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DD8C7-8E8E-4539-8A55-CE3E3D1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2355B-AA2C-4ACF-87CC-CB319A4B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2. Estimate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quantities, ranges,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9B95D-2228-46EE-A2F9-A6DFFF6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6E0F-090A-47B7-A662-52153C6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F5F2-23B4-4C7F-A5A5-1EDF776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3. Scope lock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in / out, approvals, change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00E6D-8B27-41C4-816A-16474D56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A76C4-D9CB-411B-A54C-81D37B2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5AB2B-5FD0-4FFC-A095-D3F4FB57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4. Project room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tasks, docs, team, budget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47B97-CC05-4430-82E1-46271791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D1CED-A3A0-467A-813A-4A1BD7E8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A9215-0E88-411F-B066-8108D7B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5. Execution layer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RFQ, payments, pro reputation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1DDB9-3933-4D56-92F0-27762B8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7EF8B-62F1-4F62-9298-385AE8B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Project graph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1D481-6874-458A-8D46-C3FF5B81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0025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63AF7-BBFE-4BD8-8FC3-7B3B9666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rooms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71055-D0D9-4DE5-A347-4C6E14F4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quantities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C0938-7A44-4821-88E5-FF15395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budget lines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DF473-88A0-4E73-9390-E1DF95B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documents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AF6A6-0AEF-4A9B-90D7-0DC9F70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people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930C3-A6B9-41C6-ADC4-8D49D95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tasks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11D2E-1E52-46F3-92D4-59FF267B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approvals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A3A66-705B-429C-914F-DB4F29E2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payments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52740-F8E8-4869-BA25-8AABA6F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repo product flows; docs/PROJECT_MANAGEMENT_ROADMAP.md; memory/PRD.md.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2D2052-CA2D-48AA-A321-4F8DE71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89879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2F794-6757-48CF-93EE-AF1A28AF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2DD09-BFC4-4FA8-BFDC-7452DAB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AA067-DC2A-4B75-81ED-F08CBD1D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2B47D-6596-4137-933E-175FC21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61FAE11-9014-465E-9887-FB15A405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497411F-6DBD-4E7E-A464-E4D01686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8A235-30BD-4990-9740-6E2B9BE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wedge monetizes clarity first, then earns expansion from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55A09-86EC-4F73-B280-74538AA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905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  <p:txBody>
          <a:bodyPr xmlns:a="http://schemas.openxmlformats.org/drawingml/2006/main" lIns="190500" tIns="152400" rIns="171450" bIns="1143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Stage 1</a:t>
            </a:r>
          </a:p>
          <a:p xmlns:a="http://schemas.openxmlformats.org/drawingml/2006/main">
            <a:pPr algn="l"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Paid clarity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A3305-D468-4963-89AD-D1FA80A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905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90500" tIns="171450" rIns="171450" bIns="1524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AI design visualization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Estimation report: INR 499-1,999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Consensus lock: INR 2,999-9,999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Bundle: INR 4,999/project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8D2E1-8BE9-45DB-923F-77A2D4A9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9FAA3-1F7D-4DBE-9908-B78CDEF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2905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  <p:txBody>
          <a:bodyPr xmlns:a="http://schemas.openxmlformats.org/drawingml/2006/main" lIns="190500" tIns="152400" rIns="171450" bIns="1143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Stage 2</a:t>
            </a:r>
          </a:p>
          <a:p xmlns:a="http://schemas.openxmlformats.org/drawingml/2006/main">
            <a:pPr algn="l"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Project OS + marketplace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AA956-F388-4169-B88A-F929705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2905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90500" tIns="171450" rIns="171450" bIns="1524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matching: 5-10% commission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Project SaaS: INR 999/mo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Milestone payments: 2-3% fee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Priority listing for pros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44EA7-1AC1-4574-AE8C-408311F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57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6D20F-ACCF-4C4C-9844-F2907B5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2905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  <p:txBody>
          <a:bodyPr xmlns:a="http://schemas.openxmlformats.org/drawingml/2006/main" lIns="190500" tIns="152400" rIns="171450" bIns="1143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Stage 3</a:t>
            </a:r>
          </a:p>
          <a:p xmlns:a="http://schemas.openxmlformats.org/drawingml/2006/main">
            <a:pPr algn="l"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Ecosystem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D1A2F-D132-431D-B217-B554984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2905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90500" tIns="171450" rIns="171450" bIns="1524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dashboard subscriptions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Materials order commission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Embedded finance partnerships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Community and promoted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E4C7E-F1E0-4A3A-80CE-7803D44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Discipline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E75D5-4C9A-4E75-B6EB-A1AEAE6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Do not overbuild marketplace until paid clarity proves willingness to pay.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6053B-14EF-499D-9933-3B517B0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Design Compass three-stage revenue model and pricing assumptions.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A72E8-9D20-47C0-AA39-053D7C21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91756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88D14-F001-47B1-B9D1-FFC5FE0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10814-AB9F-4522-956A-EA9FF11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E71E2-2FBA-4914-8B6D-FD3B59B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A7729-22DA-4484-B70F-956B59B7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7DC6546-3B32-4050-8477-59955ECF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E327DE77-A030-4D5C-BB20-C994478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MOAT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FC80A-8480-474A-B2FE-0CDD46B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Each project improves the next estimate before competitors see the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B507A-8E96-4104-9DBE-1FACDFF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479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Approval-grade project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FDA4D-E90D-49FC-95DA-4BE3DAA1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Projects</a:t>
            </a:r>
          </a:p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real scope +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A406A-D007-439B-8C41-7C6D252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4DF13-C9BC-40C3-81E5-B64C29E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Cost benchmarks</a:t>
            </a:r>
          </a:p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city, room, finish, labor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8430A-E7C8-49DE-907A-CC709B1A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7CB1-D1C5-43C7-BBA3-B3DC1711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Trust layer</a:t>
            </a:r>
          </a:p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approval, changes, payments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B799-5B5A-4EDF-B095-1375567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E7A32-255B-4A9A-8EFD-E9980C4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supply</a:t>
            </a:r>
          </a:p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performance and response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69078-5877-4C6E-8DEE-A79F8EFC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7D56A-ACBC-4AFB-8B45-3945867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Better matching</a:t>
            </a:r>
          </a:p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fit by budget, city, job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AC925-FBF3-4E88-95DD-64A1614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0C8CC-9ECA-4368-A493-7D5B26A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24F3A-44A9-4A3B-A81F-D64F6BEB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F672D-0F6E-4C79-AAA0-8EE0754A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90825"/>
            <a:ext cx="285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8C116-33AF-492E-930C-582155C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90825"/>
            <a:ext cx="285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15057-59EE-43E5-8DF4-BB8B402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053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E7ECF-CCC9-4BC9-9CF8-2F111C5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053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BF937-1FF8-40BA-B53B-6CE7613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Why it compounds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26900-22EA-46EB-B147-DBBC5C0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340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HomeMakers captures decisions before execution, so the dataset starts where cost, scope, and trust are still negotiable.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7D964-CB78-4F6C-8AB0-25686F4F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Design Compass moat section; product roadmap; internal architecture synthesis.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842C2-43E6-4902-A884-9D26E8E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79454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F469F2-7A17-4E6A-82D6-73866E8A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0EAC-706E-47B5-A100-28219F8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83278-5428-4D96-9503-CBB601B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8D543-2E0D-46A0-A433-3A2B7878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031D2590-D55D-4C69-94D2-F86E789F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67DB3E8-9D90-4A00-A1E8-F7896CD5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GTM 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D437C-3F2C-4B8D-9B74-083B6A2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City-one GTM starts at new apartment handovers, where pain and density collide.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BFC91-3AEA-4CC4-B567-3791256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Launch target funnel, not claimed 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1282E-858A-4BEE-8F64-A4C22BBC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BA886-2801-4D6C-8595-673E4829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265D-9BB7-4DB7-B2E9-70A109E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383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handover households reached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E00DF-95BE-47C7-BAE5-9CDCBF8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14E8D-4877-456C-B9CE-1118D17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B53F3-D915-4C4C-A3C6-53ADC63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860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brief starts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E681F-E447-48E5-989B-85767F8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4C861-C94F-4FB5-911D-6CD8424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61C23-5867-4CAA-BC7E-CAE975A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337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paid / qualified estimates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FE6E7-CB59-409F-857D-AED16D30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96996-D868-4669-9148-9CA773A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1BEB5-2760-414D-8B77-2FBB368C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814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scope 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A5906-18EC-4857-A398-E8D4177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36BD9-FC2D-4ABF-B62A-1BFE80F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8630E-1A41-4F6D-8594-1D12323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29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/ RFQ conversions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76B36-E70E-4264-B288-2C00B44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95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Why this is measurable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6C395-35C5-48C4-B1BD-E9DA130D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526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Society WhatsApp groups</a:t>
            </a:r>
          </a:p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zero-friction local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01386-CA68-4AAF-8A38-6A8E43F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Builder handover partnerships</a:t>
            </a:r>
          </a:p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renovation intent at key pickup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A1F0C-CB4B-476F-BFB6-5020DFA7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Cost-breakdown content</a:t>
            </a:r>
          </a:p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Instagram, YouTube, Google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A10B8-8251-462E-9D35-6413547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Architect / contractor partners</a:t>
            </a:r>
          </a:p>
          <a:p xmlns:a="http://schemas.openxmlformats.org/drawingml/2006/main">
            <a:pPr algn="l"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supply before marketplace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5031F-8D83-46E4-A5F7-A3A72233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Initial city: Bangalore or Hyderabad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77D0C7-15F1-4401-8ED9-0BA0713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Design Compass GTM strategy; apartment share and online demand concentration from market research.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38BC5-0EEB-4203-B86B-DEEEA74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341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1C9E6-47A1-4E05-BB43-356429A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3B1A9-1FED-4036-9152-56B689F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E9991-E1EF-4521-9126-26990A2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8230B-CD2B-4C5E-A163-BA5BFC79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A5E35B61-07B7-4668-91A8-B55E263D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80870957-FADA-49FB-AB4B-0F5CA361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MILESTONES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968DB-8A53-446F-8968-C046331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raise buys fundable proof: paid clarity, repeat usage, and GMV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9EE6E-2979-456B-A0A9-C168B2A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Current product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1D2ED-9A8E-4273-8E88-55C84928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Demoable flows in repo: craft onboarding, new home / remodel wizards, project hub, documents, marketplace, team, and pro surfaces.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FB9C6-4756-42D5-B686-9DF4D84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8FA0D-C8B2-4E4F-A4FD-6F379FD8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0-6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127C8-B4ED-4414-98A2-FBECB03F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Harden core product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first paid professional or homeowner flow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3-5 lighthouse projects in one geography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69D08-44EE-486E-B851-4602683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884F3-6CAC-40DC-BCB9-7C4EF09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7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6-12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B2611-1B83-409F-B063-125D1D3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243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repeat project-room usage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RFQ marketplace v1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NPS and referral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10F8D-30E9-4A09-8F5F-121E90C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4B1FC-81F1-412C-924A-27AB908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12-18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A4C15-1667-4782-99B5-8CA7E4A2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Series A narrative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GMV or ARR north-star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commission, SaaS, or B2B pro seats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42209-6EEB-441D-BF27-52E4615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Board KPIs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1998B-9DFB-4729-A5FF-F94281F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time to usable brief, estimate completion, scope-lock rate, pro add rate, repeat sessions, NPS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644DD-4054-4BF4-9F2F-E9FB9571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docs/INVESTOR_PITCH.md traction section; project management roadmap.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4DA8E-6535-4B7E-942C-9A030477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05320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FEC8E-2071-4FFB-AFF1-C6DA282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EFA1E-AAB6-4A4C-B217-1E46176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5CE8B-4DAF-42DB-8E5E-E6A3BEB1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1750E-F082-469C-BD64-884CA29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83F8B5A-964B-4F26-9778-14A6A8B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0E4A5D0-85C5-4728-8A08-4C6517A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COMPETITION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FF7B8-C096-499B-A23C-C615B3B4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Incumbents own inspiration, discovery, or execution; nobody owns pre-execution truth for the long 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B2ACF-4FF6-4F20-9367-406AF93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D2091-3F3A-4DFF-865D-4AAA0F8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67224-7F3D-4925-8769-6BB182B0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Inspiration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D90E6-8D50-4605-ABDF-E3E68E8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Operating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ECF14-90A3-4984-816A-32A4696E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00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Control preserved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8FEB4-8606-4849-A78A-A123B912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Outsourced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123ED-FAA1-4CF9-BFE2-2634E53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242"/>
          </a:solidFill>
          <a:ln xmlns:a="http://schemas.openxmlformats.org/drawingml/2006/main" w="0">
            <a:solidFill>
              <a:srgbClr val="3B424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Inspiration / listings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61B3A-0558-4FF6-A0B9-7C51937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Service marketplaces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F50A6-6AFF-4A16-90B9-FA9F715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Managed interiors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A91CD-1AE2-4AA3-B387-EED84FA5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HomeMakers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BD21C-1BE6-46E4-B2DD-A7F7D8E8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HomeMakers owns the missing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D0E92-7BB2-4C06-B55D-2689C05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911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Before money moves: clear estimate, scope lock, approval trail, project room, and expansion paths into pros and payments.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18D6F-5C34-4F72-8483-4F8C5866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Design Compass competitor landscape; Entrackr FY25 Livspace revenue; internal positioning.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5DC7B-DB7A-4AF0-8F57-979BF68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75946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98FF2-0D20-4E4C-ADB4-1941D352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22E2-F6F9-48CB-9BB2-5E3FD8D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A1A5A-471D-44A0-BC50-EC953698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D16B9-12DA-495B-AE74-A0F6097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D95F65BD-6421-4A97-8849-97A23B9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7E4207A-BAFC-432F-9554-FC386D2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43591-B3B3-41D8-BFB6-F243C30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founder profile fits the wedge: AI product discipline plus lived construction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B2A8-5BD2-48D3-8B7F-C2A20C63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209550" tIns="171450" rIns="171450" bIns="1333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Mokshith</a:t>
            </a:r>
          </a:p>
          <a:p xmlns:a="http://schemas.openxmlformats.org/drawingml/2006/main">
            <a:pPr algn="l">
              <a:defRPr sz="23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Founder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A8575-1757-4FA4-A62E-62F4C42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Technical operator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Computer Science background; Cisco execution environment; able to ship high-expectation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7CBCB-059A-489A-AF51-C30E165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AI + business lens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Arizona State University work across artificial intelligence and business management.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55528-5F3B-4D68-B0CE-E3A0A08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Domain DNA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Son of a civil engineer in house planning; grew up around drawings, estimates, and site reality.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C3ACD-4722-4611-A889-AB3F1C1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670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Personal hunger</a:t>
            </a:r>
          </a:p>
          <a:p xmlns:a="http://schemas.openxmlformats.org/drawingml/2006/main">
            <a:pPr algn="l"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Middle-class India; family tradeoffs around stability and ambition inform the operator mindset.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72C68-D4D3-49E6-85ED-05E9FAB3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Seed hiring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67080-5B21-4191-846D-9BF8151E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55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small senior core across full-stack, ML product, design, city GTM, and customer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7FBFF-38C3-4171-9E18-F849041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Add advisors / first architect or contractor partners as named proof before external send.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3D46B-BA4D-4029-8E0F-F546760D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docs/INVESTOR_PITCH.md team section. Confirm legal name and advisor list before fundraising circulation.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E3E86-8764-4BDD-A07E-26A86B2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3152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5280F-AD3A-45E1-9826-ACB3FFAA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3"/>
          </a:solidFill>
          <a:ln xmlns:a="http://schemas.openxmlformats.org/drawingml/2006/main" w="0">
            <a:solidFill>
              <a:srgbClr val="1715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E941A-388B-4FCD-8E13-D1892CE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8627C-7AC0-4A10-84BB-DCD5A1A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93B"/>
          </a:solidFill>
          <a:ln xmlns:a="http://schemas.openxmlformats.org/drawingml/2006/main" w="0">
            <a:solidFill>
              <a:srgbClr val="5A493B"/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51240FEB-5A92-474A-A367-6CFF810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2E5E0014-289B-4351-90D3-D3B454E1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rPr>
              <a:t>THE 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8B76-7C42-41F9-8C06-9EC42D5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76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We are raising $4.5M-$6.0M to own the pre-execution layer before the market is copied.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DE4AB-0316-40C6-AA4E-CD0D85C9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CEC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7CEC4"/>
                </a:solidFill>
                <a:latin typeface="Avenir Next"/>
                <a:ea typeface="Avenir Next"/>
                <a:cs typeface="Avenir Next"/>
              </a:rPr>
              <a:t>Use of funds is built for parallel product depth and city-one trust, not lifestyle burn.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128AA-DC36-4602-A67A-73F6E4E8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Product &amp;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44833-8068-49C4-8603-84AA4704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3EF7A-4703-4F32-B8EE-DB8E643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3931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67AAE-8B4F-481C-96A6-2BB653EA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48%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D199A-2D12-4F6F-8272-660C348E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core product, ML product, reliability,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E2499-21DB-4626-B57C-26920EB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India GTM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247EB-6B16-4487-A275-0226CE6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A8558-E7D7-4F31-8503-054885B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19659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49C"/>
          </a:solidFill>
          <a:ln xmlns:a="http://schemas.openxmlformats.org/drawingml/2006/main" w="0">
            <a:solidFill>
              <a:srgbClr val="6AB4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057F6-F003-41D6-8DF3-2C02964C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E2FA2-3EBB-447C-BD75-B390064E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pro acquisition, city wedge, partnerships, 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1D2EB-3891-47E2-BC96-BE696AE8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Operations &amp; hiring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A3AB-1B4B-4BA5-87E9-38111B4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0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28632-3DB0-462C-83DA-20D353A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0950"/>
            <a:ext cx="10648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9BB45-1B49-4FD7-8999-5FA836F9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BEF8F-1BB0-4ADC-A8C8-65DA21AA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support, legal, finance, marketplace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22F4E-5E82-4496-AF6B-F5954A6A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Buffer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EB2E2-4C93-4B7F-8497-905048C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24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5E9A7-8EFF-49A9-8CB6-2AE1CEB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24350"/>
            <a:ext cx="1228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5A5E2-B2D3-4AED-BF19-DF659CD3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28823-14E2-4EA8-812A-23D0E45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construction cycles and trust-building runway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E2EF5-69D3-45EC-B01D-FA37C96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A54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E2A549"/>
                </a:solidFill>
                <a:latin typeface="Georgia"/>
                <a:ea typeface="Georgia"/>
                <a:cs typeface="Georgia"/>
              </a:rPr>
              <a:t>18-24 month 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55807E-71C1-40F2-8DC3-1A529CBA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DD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8DDD0"/>
                </a:solidFill>
                <a:latin typeface="Avenir Next"/>
                <a:ea typeface="Avenir Next"/>
                <a:cs typeface="Avenir Next"/>
              </a:rPr>
              <a:t>Next round proof: paid clarity, repeat project-room usage, marketplace/RFQ signal, and a credible GMV or ARR north star.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17D0FE-A9FF-4FAA-BC2F-F47D670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866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HomeMakers is the default way Indian families make building decisions before cash, contractors, and chaos enter the room.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3210EE-6007-4975-9B6D-F6BF0D33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rPr>
              <a:t>Indicative raise and use of funds. Align with counsel and investor lead before external distribution.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E1A84-5B60-4D26-A5EA-CB0EB21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2A54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E2A549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8022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2026-05-20T14:27:11.6260000Z</dcterms:created>
  <dcterms:modified xsi:type="dcterms:W3CDTF">2026-05-20T14:27:11.6270000Z</dcterms:modified>
</coreProperties>
</file>