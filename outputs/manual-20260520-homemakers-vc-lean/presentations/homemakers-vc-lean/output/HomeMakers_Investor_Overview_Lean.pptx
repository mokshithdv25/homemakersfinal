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9144000" cy="6858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13"/>
          </a:solidFill>
          <a:ln w="0">
            <a:solidFill>
              <a:srgbClr val="171513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5A493B"/>
          </a:solidFill>
          <a:ln w="0">
            <a:solidFill>
              <a:srgbClr val="5A493B"/>
            </a:solidFill>
            <a:prstDash val="solid"/>
          </a:ln>
        </p:spPr>
      </p:sp>
      <p:sp>
        <p:nvSpPr>
          <p:cNvPr id="5" name="kicker-01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6" name="kicker-01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F0C884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F0C884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INVESTOR OVERVIEW</a:t>
            </a:r>
            <a:endParaRPr sz="750" b="1">
              <a:solidFill>
                <a:srgbClr val="F0C884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861060"/>
            <a:ext cx="533400" cy="373380"/>
          </a:xfrm>
          <a:prstGeom prst="rect">
            <a:avLst/>
          </a:prstGeom>
        </p:spPr>
      </p:pic>
      <p:sp>
        <p:nvSpPr>
          <p:cNvPr id="8" name="Rectangles 7"/>
          <p:cNvSpPr>
            <a:spLocks noGrp="1"/>
          </p:cNvSpPr>
          <p:nvPr/>
        </p:nvSpPr>
        <p:spPr>
          <a:xfrm>
            <a:off x="1352550" y="9144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50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HomeMakers</a:t>
            </a:r>
            <a:endParaRPr sz="1500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666750" y="1695450"/>
            <a:ext cx="68580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36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operating layer before Indian homes are built or renovated.</a:t>
            </a:r>
            <a:endParaRPr sz="367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04850" y="3543300"/>
            <a:ext cx="6191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6C9BD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350" b="0">
                <a:solidFill>
                  <a:srgbClr val="D6C9BD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Opportunity sizing, problem, UVP, competition, founder, roadmap, and use of funds.</a:t>
            </a:r>
            <a:endParaRPr sz="1350" b="0">
              <a:solidFill>
                <a:srgbClr val="D6C9BD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905750" y="1428750"/>
            <a:ext cx="3048000" cy="1238250"/>
          </a:xfrm>
          <a:prstGeom prst="rect">
            <a:avLst/>
          </a:prstGeom>
          <a:solidFill>
            <a:srgbClr val="211D19"/>
          </a:solidFill>
          <a:ln w="9525">
            <a:solidFill>
              <a:srgbClr val="4A4038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7905750" y="1428750"/>
            <a:ext cx="47625" cy="1238250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8143875" y="1590675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4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$0.79T</a:t>
            </a:r>
            <a:endParaRPr sz="247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8143875" y="206692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E5D9C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40" b="1">
                <a:solidFill>
                  <a:srgbClr val="E5D9C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India construction market in 2026</a:t>
            </a:r>
            <a:endParaRPr sz="940" b="1">
              <a:solidFill>
                <a:srgbClr val="E5D9C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8143875" y="23812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FA49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AFA49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Mordor Intelligence</a:t>
            </a:r>
            <a:endParaRPr sz="640" b="0">
              <a:solidFill>
                <a:srgbClr val="AFA49A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7905750" y="2809875"/>
            <a:ext cx="3048000" cy="1238250"/>
          </a:xfrm>
          <a:prstGeom prst="rect">
            <a:avLst/>
          </a:prstGeom>
          <a:solidFill>
            <a:srgbClr val="211D19"/>
          </a:solidFill>
          <a:ln w="9525">
            <a:solidFill>
              <a:srgbClr val="4A4038"/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7905750" y="2809875"/>
            <a:ext cx="47625" cy="123825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8143875" y="297180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4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&lt;1%</a:t>
            </a:r>
            <a:endParaRPr sz="247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8143875" y="3448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E5D9C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40" b="1">
                <a:solidFill>
                  <a:srgbClr val="E5D9C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online home services penetration</a:t>
            </a:r>
            <a:endParaRPr sz="940" b="1">
              <a:solidFill>
                <a:srgbClr val="E5D9C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8143875" y="3762375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FA49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AFA49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Redseer / IBEF</a:t>
            </a:r>
            <a:endParaRPr sz="640" b="0">
              <a:solidFill>
                <a:srgbClr val="AFA49A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7905750" y="4191000"/>
            <a:ext cx="3048000" cy="1238250"/>
          </a:xfrm>
          <a:prstGeom prst="rect">
            <a:avLst/>
          </a:prstGeom>
          <a:solidFill>
            <a:srgbClr val="211D19"/>
          </a:solidFill>
          <a:ln w="9525">
            <a:solidFill>
              <a:srgbClr val="4A4038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7905750" y="4191000"/>
            <a:ext cx="47625" cy="12382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8143875" y="4352925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4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$1.5B+</a:t>
            </a:r>
            <a:endParaRPr sz="247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8143875" y="48291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E5D9C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40" b="1">
                <a:solidFill>
                  <a:srgbClr val="E5D9C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credible coordination layer wedge</a:t>
            </a:r>
            <a:endParaRPr sz="940" b="1">
              <a:solidFill>
                <a:srgbClr val="E5D9C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8143875" y="514350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FA49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AFA49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Internal model</a:t>
            </a:r>
            <a:endParaRPr sz="640" b="0">
              <a:solidFill>
                <a:srgbClr val="AFA49A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9C90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A99C90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Sources: Mordor Intelligence 2026; Redseer via IBEF 2025; internal Design Compass model.</a:t>
            </a:r>
            <a:endParaRPr sz="640" b="0">
              <a:solidFill>
                <a:srgbClr val="A99C90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E2A54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E2A54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825" b="1">
              <a:solidFill>
                <a:srgbClr val="E2A54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9"/>
          </a:solidFill>
          <a:ln w="0">
            <a:solidFill>
              <a:srgbClr val="F7F1E9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5" name="kicker-02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6" name="kicker-02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OPPORTUNITY SIZING</a:t>
            </a:r>
            <a:endParaRPr sz="750" b="1">
              <a:solidFill>
                <a:srgbClr val="9E48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19150"/>
            <a:ext cx="8858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A large construction market is still early in digital coordination.</a:t>
            </a:r>
            <a:endParaRPr sz="277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857250" y="20955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India construction market</a:t>
            </a:r>
            <a:endParaRPr sz="900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57250" y="2381250"/>
            <a:ext cx="4095750" cy="323850"/>
          </a:xfrm>
          <a:prstGeom prst="rect">
            <a:avLst/>
          </a:prstGeom>
          <a:solidFill>
            <a:srgbClr val="E4D7CA"/>
          </a:solidFill>
          <a:ln w="0">
            <a:solidFill>
              <a:srgbClr val="E4D7CA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857250" y="2381250"/>
            <a:ext cx="2941493" cy="32385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3913043" y="240982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42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$0.79T</a:t>
            </a:r>
            <a:endParaRPr sz="142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857250" y="33813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Projected market</a:t>
            </a:r>
            <a:endParaRPr sz="900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857250" y="3667125"/>
            <a:ext cx="4095750" cy="323850"/>
          </a:xfrm>
          <a:prstGeom prst="rect">
            <a:avLst/>
          </a:prstGeom>
          <a:solidFill>
            <a:srgbClr val="E4D7CA"/>
          </a:solidFill>
          <a:ln w="0">
            <a:solidFill>
              <a:srgbClr val="E4D7CA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857250" y="3667125"/>
            <a:ext cx="4095750" cy="3238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5067300" y="36957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42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$1.10T</a:t>
            </a:r>
            <a:endParaRPr sz="142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857250" y="4333875"/>
            <a:ext cx="1428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9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6.87%</a:t>
            </a:r>
            <a:endParaRPr sz="19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  <a:p>
            <a:pPr algn="l">
              <a:defRPr sz="19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9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CAGR</a:t>
            </a:r>
            <a:endParaRPr sz="19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2333625" y="44577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2026-2031 forecast</a:t>
            </a:r>
            <a:endParaRPr sz="825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6191250" y="1809750"/>
            <a:ext cx="2143125" cy="1257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6191250" y="1809750"/>
            <a:ext cx="47625" cy="125730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6400800" y="1981200"/>
            <a:ext cx="1724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44.68%</a:t>
            </a:r>
            <a:endParaRPr sz="25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6419850" y="2457450"/>
            <a:ext cx="16859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residential share of India construction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6419850" y="2800350"/>
            <a:ext cx="16859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2025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8620125" y="1809750"/>
            <a:ext cx="2143125" cy="1257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4" name="Rectangles 23"/>
          <p:cNvSpPr>
            <a:spLocks noGrp="1"/>
          </p:cNvSpPr>
          <p:nvPr/>
        </p:nvSpPr>
        <p:spPr>
          <a:xfrm>
            <a:off x="8620125" y="1809750"/>
            <a:ext cx="47625" cy="1257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8829675" y="1981200"/>
            <a:ext cx="1724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7.96%</a:t>
            </a:r>
            <a:endParaRPr sz="25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8848725" y="2457450"/>
            <a:ext cx="16859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renovation CAGR to 2031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8848725" y="2800350"/>
            <a:ext cx="16859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fastest-growing construction type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6191250" y="3476625"/>
            <a:ext cx="2143125" cy="1257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9" name="Rectangles 28"/>
          <p:cNvSpPr>
            <a:spLocks noGrp="1"/>
          </p:cNvSpPr>
          <p:nvPr/>
        </p:nvSpPr>
        <p:spPr>
          <a:xfrm>
            <a:off x="6191250" y="3476625"/>
            <a:ext cx="47625" cy="1257300"/>
          </a:xfrm>
          <a:prstGeom prst="rect">
            <a:avLst/>
          </a:prstGeom>
          <a:solidFill>
            <a:srgbClr val="2B5C73"/>
          </a:solidFill>
          <a:ln w="0">
            <a:solidFill>
              <a:srgbClr val="2B5C73"/>
            </a:solidFill>
            <a:prstDash val="solid"/>
          </a:ln>
        </p:spPr>
      </p:sp>
      <p:sp>
        <p:nvSpPr>
          <p:cNvPr id="30" name="Rectangles 29"/>
          <p:cNvSpPr>
            <a:spLocks noGrp="1"/>
          </p:cNvSpPr>
          <p:nvPr/>
        </p:nvSpPr>
        <p:spPr>
          <a:xfrm>
            <a:off x="6400800" y="3648075"/>
            <a:ext cx="1724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&lt;1%</a:t>
            </a:r>
            <a:endParaRPr sz="25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6419850" y="4124325"/>
            <a:ext cx="16859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online home services NTV penetration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6419850" y="4467225"/>
            <a:ext cx="16859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FY25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8620125" y="3476625"/>
            <a:ext cx="2143125" cy="1257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34" name="Rectangles 33"/>
          <p:cNvSpPr>
            <a:spLocks noGrp="1"/>
          </p:cNvSpPr>
          <p:nvPr/>
        </p:nvSpPr>
        <p:spPr>
          <a:xfrm>
            <a:off x="8620125" y="3476625"/>
            <a:ext cx="47625" cy="1257300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35" name="Rectangles 34"/>
          <p:cNvSpPr>
            <a:spLocks noGrp="1"/>
          </p:cNvSpPr>
          <p:nvPr/>
        </p:nvSpPr>
        <p:spPr>
          <a:xfrm>
            <a:off x="8829675" y="3648075"/>
            <a:ext cx="1724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5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18-22%</a:t>
            </a:r>
            <a:endParaRPr sz="25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36" name="Rectangles 35"/>
          <p:cNvSpPr>
            <a:spLocks noGrp="1"/>
          </p:cNvSpPr>
          <p:nvPr/>
        </p:nvSpPr>
        <p:spPr>
          <a:xfrm>
            <a:off x="8848725" y="4124325"/>
            <a:ext cx="16859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online home services CAGR to FY30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7" name="Rectangles 36"/>
          <p:cNvSpPr>
            <a:spLocks noGrp="1"/>
          </p:cNvSpPr>
          <p:nvPr/>
        </p:nvSpPr>
        <p:spPr>
          <a:xfrm>
            <a:off x="8848725" y="4467225"/>
            <a:ext cx="16859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Redseer / IBEF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8" name="Rectangles 37"/>
          <p:cNvSpPr>
            <a:spLocks noGrp="1"/>
          </p:cNvSpPr>
          <p:nvPr/>
        </p:nvSpPr>
        <p:spPr>
          <a:xfrm>
            <a:off x="6191250" y="5095875"/>
            <a:ext cx="476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350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HomeMakers targets the decision and coordination layer, not the entire build cost.</a:t>
            </a:r>
            <a:endParaRPr sz="1350" b="1">
              <a:solidFill>
                <a:srgbClr val="173B3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39" name="Rectangles 38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Sources: Mordor Intelligence India Construction Market, Jan 2026; Redseer Strategy Consultants via IBEF, FY25.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40" name="Rectangles 39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825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9"/>
          </a:solidFill>
          <a:ln w="0">
            <a:solidFill>
              <a:srgbClr val="F7F1E9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5" name="kicker-03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6" name="kicker-03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PROBLEM</a:t>
            </a:r>
            <a:endParaRPr sz="750" b="1">
              <a:solidFill>
                <a:srgbClr val="9E48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19150"/>
            <a:ext cx="8858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default path is still WhatsApp, vague quotes, and cash advances.</a:t>
            </a:r>
            <a:endParaRPr sz="277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381125" y="2952750"/>
            <a:ext cx="8524875" cy="19050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952500" y="2686050"/>
            <a:ext cx="495300" cy="495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350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</a:t>
            </a:r>
            <a:endParaRPr sz="1350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619125" y="33718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Contacts</a:t>
            </a:r>
            <a:endParaRPr sz="900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2667000" y="2686050"/>
            <a:ext cx="495300" cy="495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350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</a:t>
            </a:r>
            <a:endParaRPr sz="1350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2333625" y="33718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Site visit</a:t>
            </a:r>
            <a:endParaRPr sz="900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4381500" y="2686050"/>
            <a:ext cx="495300" cy="4953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350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3</a:t>
            </a:r>
            <a:endParaRPr sz="1350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4048125" y="33718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Verbal scope</a:t>
            </a:r>
            <a:endParaRPr sz="900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6096000" y="2686050"/>
            <a:ext cx="495300" cy="495300"/>
          </a:xfrm>
          <a:prstGeom prst="rect">
            <a:avLst/>
          </a:prstGeom>
          <a:solidFill>
            <a:srgbClr val="C65D2E"/>
          </a:solidFill>
          <a:ln w="9525">
            <a:solidFill>
              <a:srgbClr val="C65D2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DF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350" b="1">
                <a:solidFill>
                  <a:srgbClr val="FFFDF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4</a:t>
            </a:r>
            <a:endParaRPr sz="1350" b="1">
              <a:solidFill>
                <a:srgbClr val="FFFDF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5762625" y="33718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Advance</a:t>
            </a:r>
            <a:endParaRPr sz="900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7810500" y="2686050"/>
            <a:ext cx="495300" cy="495300"/>
          </a:xfrm>
          <a:prstGeom prst="rect">
            <a:avLst/>
          </a:prstGeom>
          <a:solidFill>
            <a:srgbClr val="C65D2E"/>
          </a:solidFill>
          <a:ln w="9525">
            <a:solidFill>
              <a:srgbClr val="C65D2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DF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350" b="1">
                <a:solidFill>
                  <a:srgbClr val="FFFDF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5</a:t>
            </a:r>
            <a:endParaRPr sz="1350" b="1">
              <a:solidFill>
                <a:srgbClr val="FFFDF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7477125" y="33718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Scope drift</a:t>
            </a:r>
            <a:endParaRPr sz="900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9525000" y="2686050"/>
            <a:ext cx="495300" cy="495300"/>
          </a:xfrm>
          <a:prstGeom prst="rect">
            <a:avLst/>
          </a:prstGeom>
          <a:solidFill>
            <a:srgbClr val="C65D2E"/>
          </a:solidFill>
          <a:ln w="9525">
            <a:solidFill>
              <a:srgbClr val="C65D2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DF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350" b="1">
                <a:solidFill>
                  <a:srgbClr val="FFFDF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6</a:t>
            </a:r>
            <a:endParaRPr sz="1350" b="1">
              <a:solidFill>
                <a:srgbClr val="FFFDF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9191625" y="33718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Budget fight</a:t>
            </a:r>
            <a:endParaRPr sz="900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819150" y="4476750"/>
            <a:ext cx="3762375" cy="9334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819150" y="4476750"/>
            <a:ext cx="3762375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990600" y="4610100"/>
            <a:ext cx="34194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Real competitor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990600" y="4933950"/>
            <a:ext cx="34194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Informal process: no source of truth, no approval trail, no defensible estimate.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5905500" y="4476750"/>
            <a:ext cx="3762375" cy="933450"/>
          </a:xfrm>
          <a:prstGeom prst="rect">
            <a:avLst/>
          </a:prstGeom>
          <a:solidFill>
            <a:srgbClr val="EEF4EF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5905500" y="4476750"/>
            <a:ext cx="3762375" cy="3810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6076950" y="4610100"/>
            <a:ext cx="34194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HomeMakers replaces it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6076950" y="4933950"/>
            <a:ext cx="34194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Clear estimate -&gt; locked scope -&gt; visible milestones -&gt; documents, team, and budget.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Sources: docs/INVESTOR_PITCH.md; Design Compass business implementation plan.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825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9"/>
          </a:solidFill>
          <a:ln w="0">
            <a:solidFill>
              <a:srgbClr val="F7F1E9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5" name="kicker-04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6" name="kicker-04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UVP</a:t>
            </a:r>
            <a:endParaRPr sz="750" b="1">
              <a:solidFill>
                <a:srgbClr val="9E48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19150"/>
            <a:ext cx="8858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HomeMakers turns intent into a project graph everyone can trust.</a:t>
            </a:r>
            <a:endParaRPr sz="277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66750" y="2171700"/>
            <a:ext cx="1809750" cy="11811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66750" y="2171700"/>
            <a:ext cx="1809750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838200" y="23050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1. Brief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838200" y="26289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rooms, plot, Vastu, style, budget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2495550" y="2743200"/>
            <a:ext cx="295275" cy="2857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2809875" y="2171700"/>
            <a:ext cx="1809750" cy="11811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2809875" y="2171700"/>
            <a:ext cx="1809750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2981325" y="23050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2. Estimate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2981325" y="26289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quantities, ranges, assumptions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4638675" y="2743200"/>
            <a:ext cx="295275" cy="2857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4953000" y="2171700"/>
            <a:ext cx="1809750" cy="1181100"/>
          </a:xfrm>
          <a:prstGeom prst="rect">
            <a:avLst/>
          </a:prstGeom>
          <a:solidFill>
            <a:srgbClr val="E7F0EA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4953000" y="2171700"/>
            <a:ext cx="1809750" cy="3810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20" name="Rectangles 19"/>
          <p:cNvSpPr>
            <a:spLocks noGrp="1"/>
          </p:cNvSpPr>
          <p:nvPr/>
        </p:nvSpPr>
        <p:spPr>
          <a:xfrm>
            <a:off x="5124450" y="23050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3. Scope lock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5124450" y="26289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 / out, approvals, change log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6781800" y="2743200"/>
            <a:ext cx="295275" cy="2857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7096125" y="2171700"/>
            <a:ext cx="1809750" cy="11811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4" name="Rectangles 23"/>
          <p:cNvSpPr>
            <a:spLocks noGrp="1"/>
          </p:cNvSpPr>
          <p:nvPr/>
        </p:nvSpPr>
        <p:spPr>
          <a:xfrm>
            <a:off x="7096125" y="2171700"/>
            <a:ext cx="1809750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25" name="Rectangles 24"/>
          <p:cNvSpPr>
            <a:spLocks noGrp="1"/>
          </p:cNvSpPr>
          <p:nvPr/>
        </p:nvSpPr>
        <p:spPr>
          <a:xfrm>
            <a:off x="7267575" y="23050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4. Project room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7267575" y="26289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tasks, documents, team, budget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8924925" y="2743200"/>
            <a:ext cx="295275" cy="2857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28" name="Rectangles 27"/>
          <p:cNvSpPr>
            <a:spLocks noGrp="1"/>
          </p:cNvSpPr>
          <p:nvPr/>
        </p:nvSpPr>
        <p:spPr>
          <a:xfrm>
            <a:off x="9239250" y="2171700"/>
            <a:ext cx="1809750" cy="11811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9" name="Rectangles 28"/>
          <p:cNvSpPr>
            <a:spLocks noGrp="1"/>
          </p:cNvSpPr>
          <p:nvPr/>
        </p:nvSpPr>
        <p:spPr>
          <a:xfrm>
            <a:off x="9239250" y="2171700"/>
            <a:ext cx="1809750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30" name="Rectangles 29"/>
          <p:cNvSpPr>
            <a:spLocks noGrp="1"/>
          </p:cNvSpPr>
          <p:nvPr/>
        </p:nvSpPr>
        <p:spPr>
          <a:xfrm>
            <a:off x="9410700" y="23050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5. Execution layer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9410700" y="26289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RFQ, payments, pro reputation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876300" y="4048125"/>
            <a:ext cx="247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800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Why it is different</a:t>
            </a:r>
            <a:endParaRPr sz="1800" b="1">
              <a:solidFill>
                <a:srgbClr val="173B3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33" name="Rectangles 32"/>
          <p:cNvSpPr>
            <a:spLocks noGrp="1"/>
          </p:cNvSpPr>
          <p:nvPr/>
        </p:nvSpPr>
        <p:spPr>
          <a:xfrm>
            <a:off x="876300" y="4619625"/>
            <a:ext cx="2333625" cy="3238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India-first UX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4" name="Rectangles 33"/>
          <p:cNvSpPr>
            <a:spLocks noGrp="1"/>
          </p:cNvSpPr>
          <p:nvPr/>
        </p:nvSpPr>
        <p:spPr>
          <a:xfrm>
            <a:off x="3876675" y="4619625"/>
            <a:ext cx="2333625" cy="3238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approval-grade estimates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5" name="Rectangles 34"/>
          <p:cNvSpPr>
            <a:spLocks noGrp="1"/>
          </p:cNvSpPr>
          <p:nvPr/>
        </p:nvSpPr>
        <p:spPr>
          <a:xfrm>
            <a:off x="6877050" y="4619625"/>
            <a:ext cx="2333625" cy="3238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scope consensus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6" name="Rectangles 35"/>
          <p:cNvSpPr>
            <a:spLocks noGrp="1"/>
          </p:cNvSpPr>
          <p:nvPr/>
        </p:nvSpPr>
        <p:spPr>
          <a:xfrm>
            <a:off x="876300" y="5114925"/>
            <a:ext cx="2333625" cy="3238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project memory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7" name="Rectangles 36"/>
          <p:cNvSpPr>
            <a:spLocks noGrp="1"/>
          </p:cNvSpPr>
          <p:nvPr/>
        </p:nvSpPr>
        <p:spPr>
          <a:xfrm>
            <a:off x="3876675" y="5114925"/>
            <a:ext cx="2333625" cy="3238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pro workflow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8" name="Rectangles 37"/>
          <p:cNvSpPr>
            <a:spLocks noGrp="1"/>
          </p:cNvSpPr>
          <p:nvPr/>
        </p:nvSpPr>
        <p:spPr>
          <a:xfrm>
            <a:off x="6877050" y="5114925"/>
            <a:ext cx="2333625" cy="32385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7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payments-ready state</a:t>
            </a:r>
            <a:endParaRPr sz="97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9" name="Rectangles 38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Sources: repo product flows; docs/PROJECT_MANAGEMENT_ROADMAP.md; memory/PRD.md.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40" name="Rectangles 39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825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9"/>
          </a:solidFill>
          <a:ln w="0">
            <a:solidFill>
              <a:srgbClr val="F7F1E9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5" name="kicker-05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6" name="kicker-05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COMPETITION</a:t>
            </a:r>
            <a:endParaRPr sz="750" b="1">
              <a:solidFill>
                <a:srgbClr val="9E48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00100"/>
            <a:ext cx="885825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Incumbents own inspiration, discovery, or execution; HomeMakers owns pre-execution truth.</a:t>
            </a:r>
            <a:endParaRPr sz="277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714500" y="4953000"/>
            <a:ext cx="7239000" cy="19050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1714500" y="2286000"/>
            <a:ext cx="19050" cy="2667000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1571625" y="51435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Inspiration</a:t>
            </a:r>
            <a:endParaRPr sz="825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905750" y="51435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Operating system</a:t>
            </a:r>
            <a:endParaRPr sz="825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666750" y="2238375"/>
            <a:ext cx="1000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Control preserved</a:t>
            </a:r>
            <a:endParaRPr sz="825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742950" y="46863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825" b="1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Outsourced</a:t>
            </a:r>
            <a:endParaRPr sz="825" b="1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2381250" y="4171950"/>
            <a:ext cx="1714500" cy="419100"/>
          </a:xfrm>
          <a:prstGeom prst="rect">
            <a:avLst/>
          </a:prstGeom>
          <a:solidFill>
            <a:srgbClr val="3B42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Inspiration / listings</a:t>
            </a:r>
            <a:endParaRPr sz="1015" b="1">
              <a:solidFill>
                <a:srgbClr val="FFFDF9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4762500" y="3857625"/>
            <a:ext cx="1714500" cy="419100"/>
          </a:xfrm>
          <a:prstGeom prst="rect">
            <a:avLst/>
          </a:prstGeom>
          <a:solidFill>
            <a:srgbClr val="2B5C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Service marketplaces</a:t>
            </a:r>
            <a:endParaRPr sz="1015" b="1">
              <a:solidFill>
                <a:srgbClr val="FFFDF9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6762750" y="3095625"/>
            <a:ext cx="1714500" cy="419100"/>
          </a:xfrm>
          <a:prstGeom prst="rect">
            <a:avLst/>
          </a:prstGeom>
          <a:solidFill>
            <a:srgbClr val="C65D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1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Managed interiors</a:t>
            </a:r>
            <a:endParaRPr sz="1015" b="1">
              <a:solidFill>
                <a:srgbClr val="FFFDF9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7572375" y="2381250"/>
            <a:ext cx="1952625" cy="419100"/>
          </a:xfrm>
          <a:prstGeom prst="rect">
            <a:avLst/>
          </a:prstGeom>
          <a:solidFill>
            <a:srgbClr val="173B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50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HomeMakers</a:t>
            </a:r>
            <a:endParaRPr sz="1500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742950" y="5572125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275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The missing layer is before money moves: estimate, scope, approval trail, and project state.</a:t>
            </a:r>
            <a:endParaRPr sz="1275" b="1">
              <a:solidFill>
                <a:srgbClr val="173B3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Sources: Design Compass competitor landscape and internal positioning.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05</a:t>
            </a:r>
            <a:endParaRPr sz="825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9"/>
          </a:solidFill>
          <a:ln w="0">
            <a:solidFill>
              <a:srgbClr val="F7F1E9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5" name="kicker-06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6" name="kicker-06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TEAM</a:t>
            </a:r>
            <a:endParaRPr sz="750" b="1">
              <a:solidFill>
                <a:srgbClr val="9E48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00100"/>
            <a:ext cx="885825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Founder-market fit: AI product discipline plus lived construction context.</a:t>
            </a:r>
            <a:endParaRPr sz="277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781050" y="1952625"/>
            <a:ext cx="2571750" cy="876300"/>
          </a:xfrm>
          <a:prstGeom prst="rect">
            <a:avLst/>
          </a:prstGeom>
          <a:solidFill>
            <a:srgbClr val="173B34"/>
          </a:solidFill>
          <a:ln w="0">
            <a:solidFill>
              <a:srgbClr val="173B34"/>
            </a:solidFill>
            <a:prstDash val="solid"/>
          </a:ln>
        </p:spPr>
        <p:txBody>
          <a:bodyPr lIns="209550" tIns="171450" rIns="171450" bIns="133350" anchor="t"/>
          <a:lstStyle/>
          <a:p>
            <a:pPr algn="l">
              <a:defRPr sz="232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32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Mokshith</a:t>
            </a:r>
            <a:endParaRPr sz="232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  <a:p>
            <a:pPr algn="l">
              <a:defRPr sz="232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32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Founder</a:t>
            </a:r>
            <a:endParaRPr sz="232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4000500" y="1952625"/>
            <a:ext cx="2952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4000500" y="1952625"/>
            <a:ext cx="2952750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4171950" y="20859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Technical operator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4171950" y="2409825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Computer Science background; Cisco execution environment; able to ship high-expectation systems.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7381875" y="1952625"/>
            <a:ext cx="2952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4" name="Rectangles 13"/>
          <p:cNvSpPr>
            <a:spLocks noGrp="1"/>
          </p:cNvSpPr>
          <p:nvPr/>
        </p:nvSpPr>
        <p:spPr>
          <a:xfrm>
            <a:off x="7381875" y="1952625"/>
            <a:ext cx="2952750" cy="3810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7553325" y="20859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AI + business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7553325" y="2409825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Arizona State University work across artificial intelligence and business management.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4000500" y="3171825"/>
            <a:ext cx="2952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4000500" y="3171825"/>
            <a:ext cx="2952750" cy="381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4171950" y="33051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Domain DNA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4171950" y="3629025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Son of a civil engineer in house planning; grew up around drawings, estimates, and site reality.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7381875" y="3171825"/>
            <a:ext cx="2952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7381875" y="3171825"/>
            <a:ext cx="2952750" cy="3810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23" name="Rectangles 22"/>
          <p:cNvSpPr>
            <a:spLocks noGrp="1"/>
          </p:cNvSpPr>
          <p:nvPr/>
        </p:nvSpPr>
        <p:spPr>
          <a:xfrm>
            <a:off x="7553325" y="33051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Operator hunger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7553325" y="3629025"/>
            <a:ext cx="2609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Middle-class India background with a practical bias toward execution and ownership.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800100" y="5000625"/>
            <a:ext cx="742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500" b="1">
                <a:solidFill>
                  <a:srgbClr val="173B34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Next team layer: senior full-stack, ML product, design, city GTM, and customer operations.</a:t>
            </a:r>
            <a:endParaRPr sz="1500" b="1">
              <a:solidFill>
                <a:srgbClr val="173B34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6" name="Rectangles 25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Source: docs/INVESTOR_PITCH.md team section. Confirm legal full name before external circulation.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Rectangles 26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825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9"/>
          </a:solidFill>
          <a:ln w="0">
            <a:solidFill>
              <a:srgbClr val="F7F1E9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DED0C1"/>
          </a:solidFill>
          <a:ln w="0">
            <a:solidFill>
              <a:srgbClr val="DED0C1"/>
            </a:solidFill>
            <a:prstDash val="solid"/>
          </a:ln>
        </p:spPr>
      </p:sp>
      <p:sp>
        <p:nvSpPr>
          <p:cNvPr id="5" name="kicker-07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6" name="kicker-07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9E48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ROADMAP</a:t>
            </a:r>
            <a:endParaRPr sz="750" b="1">
              <a:solidFill>
                <a:srgbClr val="9E48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19150"/>
            <a:ext cx="8858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Roadmap focuses on proof before marketplace scale.</a:t>
            </a:r>
            <a:endParaRPr sz="2775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876300" y="2238375"/>
            <a:ext cx="266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2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0-6 months</a:t>
            </a:r>
            <a:endParaRPr sz="22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876300" y="2905125"/>
            <a:ext cx="2714625" cy="2857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10" name="Rectangles 9"/>
          <p:cNvSpPr>
            <a:spLocks noGrp="1"/>
          </p:cNvSpPr>
          <p:nvPr/>
        </p:nvSpPr>
        <p:spPr>
          <a:xfrm>
            <a:off x="876300" y="3143250"/>
            <a:ext cx="2714625" cy="121920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171450" tIns="152400" rIns="152400" bIns="133350" anchor="t"/>
          <a:lstStyle/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Harden core product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first paid homeowner or pro flow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3-5 lighthouse projects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4257675" y="2238375"/>
            <a:ext cx="266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2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6-12 months</a:t>
            </a:r>
            <a:endParaRPr sz="22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4257675" y="2905125"/>
            <a:ext cx="2714625" cy="28575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4257675" y="3143250"/>
            <a:ext cx="2714625" cy="121920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171450" tIns="152400" rIns="152400" bIns="133350" anchor="t"/>
          <a:lstStyle/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repeat project-room usage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RFQ marketplace v1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NPS and referral signal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7639050" y="2238375"/>
            <a:ext cx="266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250" b="1">
                <a:solidFill>
                  <a:srgbClr val="171513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12-18 months</a:t>
            </a:r>
            <a:endParaRPr sz="2250" b="1">
              <a:solidFill>
                <a:srgbClr val="171513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7639050" y="2905125"/>
            <a:ext cx="2714625" cy="28575"/>
          </a:xfrm>
          <a:prstGeom prst="rect">
            <a:avLst/>
          </a:prstGeom>
          <a:solidFill>
            <a:srgbClr val="2B5C73"/>
          </a:solidFill>
          <a:ln w="0">
            <a:solidFill>
              <a:srgbClr val="2B5C73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7639050" y="3143250"/>
            <a:ext cx="2714625" cy="1219200"/>
          </a:xfrm>
          <a:prstGeom prst="rect">
            <a:avLst/>
          </a:prstGeom>
          <a:solidFill>
            <a:srgbClr val="FDF8F1"/>
          </a:solidFill>
          <a:ln w="9525">
            <a:solidFill>
              <a:srgbClr val="DED0C1"/>
            </a:solidFill>
            <a:prstDash val="solid"/>
          </a:ln>
        </p:spPr>
        <p:txBody>
          <a:bodyPr lIns="171450" tIns="152400" rIns="152400" bIns="133350" anchor="t"/>
          <a:lstStyle/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GMV or ARR north-star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commission, SaaS, or B2B pro seats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 algn="l">
              <a:def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50" b="0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Series A narrative</a:t>
            </a:r>
            <a:endParaRPr sz="1050" b="0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876300" y="4857750"/>
            <a:ext cx="8334375" cy="876300"/>
          </a:xfrm>
          <a:prstGeom prst="rect">
            <a:avLst/>
          </a:prstGeom>
          <a:solidFill>
            <a:srgbClr val="EEF4EF"/>
          </a:solidFill>
          <a:ln w="9525">
            <a:solidFill>
              <a:srgbClr val="DED0C1"/>
            </a:solidFill>
            <a:prstDash val="solid"/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876300" y="4857750"/>
            <a:ext cx="8334375" cy="38100"/>
          </a:xfrm>
          <a:prstGeom prst="rect">
            <a:avLst/>
          </a:prstGeom>
          <a:solidFill>
            <a:srgbClr val="226B5B"/>
          </a:solidFill>
          <a:ln w="0">
            <a:solidFill>
              <a:srgbClr val="226B5B"/>
            </a:solidFill>
            <a:prstDash val="solid"/>
          </a:ln>
        </p:spPr>
      </p:sp>
      <p:sp>
        <p:nvSpPr>
          <p:cNvPr id="19" name="Rectangles 18"/>
          <p:cNvSpPr>
            <a:spLocks noGrp="1"/>
          </p:cNvSpPr>
          <p:nvPr/>
        </p:nvSpPr>
        <p:spPr>
          <a:xfrm>
            <a:off x="1047750" y="4991100"/>
            <a:ext cx="79914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171513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Board KPIs</a:t>
            </a:r>
            <a:endParaRPr sz="1125" b="1">
              <a:solidFill>
                <a:srgbClr val="171513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1047750" y="5314950"/>
            <a:ext cx="79914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time to usable brief, estimate completion, scope-lock rate, pro add rate, repeat sessions, NPS</a:t>
            </a:r>
            <a:endParaRPr sz="90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Rectangles 20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6F655C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Sources: docs/INVESTOR_PITCH.md traction section; docs/PROJECT_MANAGEMENT_ROADMAP.md.</a:t>
            </a:r>
            <a:endParaRPr sz="640" b="0">
              <a:solidFill>
                <a:srgbClr val="6F655C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9E482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07</a:t>
            </a:r>
            <a:endParaRPr sz="825" b="1">
              <a:solidFill>
                <a:srgbClr val="9E482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13"/>
          </a:solidFill>
          <a:ln w="0">
            <a:solidFill>
              <a:srgbClr val="171513"/>
            </a:solidFill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666750" y="6076950"/>
            <a:ext cx="10287000" cy="9525"/>
          </a:xfrm>
          <a:prstGeom prst="rect">
            <a:avLst/>
          </a:prstGeom>
          <a:solidFill>
            <a:srgbClr val="5A493B"/>
          </a:solidFill>
          <a:ln w="0">
            <a:solidFill>
              <a:srgbClr val="5A493B"/>
            </a:solidFill>
            <a:prstDash val="solid"/>
          </a:ln>
        </p:spPr>
      </p:sp>
      <p:sp>
        <p:nvSpPr>
          <p:cNvPr id="5" name="kicker-08-marker"/>
          <p:cNvSpPr>
            <a:spLocks noGrp="1"/>
          </p:cNvSpPr>
          <p:nvPr/>
        </p:nvSpPr>
        <p:spPr>
          <a:xfrm>
            <a:off x="666750" y="590550"/>
            <a:ext cx="228600" cy="19050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6" name="kicker-08-label"/>
          <p:cNvSpPr>
            <a:spLocks noGrp="1"/>
          </p:cNvSpPr>
          <p:nvPr/>
        </p:nvSpPr>
        <p:spPr>
          <a:xfrm>
            <a:off x="1009650" y="5143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F0C884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F0C884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USE OF FUNDS</a:t>
            </a:r>
            <a:endParaRPr sz="750" b="1">
              <a:solidFill>
                <a:srgbClr val="F0C884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66750" y="819150"/>
            <a:ext cx="8858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2775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Capital should fund product depth, city-one trust, and proof metrics.</a:t>
            </a:r>
            <a:endParaRPr sz="2775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704850" y="19621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6C9BD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0">
                <a:solidFill>
                  <a:srgbClr val="D6C9BD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No explicit raise amount included. This slide frames deployment priorities once terms are set.</a:t>
            </a:r>
            <a:endParaRPr sz="1125" b="0">
              <a:solidFill>
                <a:srgbClr val="D6C9BD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78105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Product &amp; engineering</a:t>
            </a:r>
            <a:endParaRPr sz="900" b="1">
              <a:solidFill>
                <a:srgbClr val="D9CDB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2743200" y="2857500"/>
            <a:ext cx="4095750" cy="228600"/>
          </a:xfrm>
          <a:prstGeom prst="rect">
            <a:avLst/>
          </a:prstGeom>
          <a:solidFill>
            <a:srgbClr val="322B25"/>
          </a:solidFill>
          <a:ln w="0">
            <a:solidFill>
              <a:srgbClr val="322B25"/>
            </a:solidFill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2743200" y="2857500"/>
            <a:ext cx="3931920" cy="228600"/>
          </a:xfrm>
          <a:prstGeom prst="rect">
            <a:avLst/>
          </a:prstGeom>
          <a:solidFill>
            <a:srgbClr val="E2A549"/>
          </a:solidFill>
          <a:ln w="0">
            <a:solidFill>
              <a:srgbClr val="E2A549"/>
            </a:solidFill>
            <a:prstDash val="solid"/>
          </a:ln>
        </p:spPr>
      </p:sp>
      <p:sp>
        <p:nvSpPr>
          <p:cNvPr id="12" name="Rectangles 11"/>
          <p:cNvSpPr>
            <a:spLocks noGrp="1"/>
          </p:cNvSpPr>
          <p:nvPr/>
        </p:nvSpPr>
        <p:spPr>
          <a:xfrm>
            <a:off x="7067550" y="283845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48%</a:t>
            </a:r>
            <a:endParaRPr sz="1350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7810500" y="28765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estimation, scope lock, project room, reliability, security</a:t>
            </a:r>
            <a:endParaRPr sz="790" b="0">
              <a:solidFill>
                <a:srgbClr val="BFB2A7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781050" y="33528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India GTM</a:t>
            </a:r>
            <a:endParaRPr sz="900" b="1">
              <a:solidFill>
                <a:srgbClr val="D9CDB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2743200" y="3390900"/>
            <a:ext cx="4095750" cy="228600"/>
          </a:xfrm>
          <a:prstGeom prst="rect">
            <a:avLst/>
          </a:prstGeom>
          <a:solidFill>
            <a:srgbClr val="322B25"/>
          </a:solidFill>
          <a:ln w="0">
            <a:solidFill>
              <a:srgbClr val="322B25"/>
            </a:solidFill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2743200" y="3390900"/>
            <a:ext cx="19659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7067550" y="337185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24%</a:t>
            </a:r>
            <a:endParaRPr sz="1350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7810500" y="34099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handover partnerships, pro acquisition, content, city wedge</a:t>
            </a:r>
            <a:endParaRPr sz="790" b="0">
              <a:solidFill>
                <a:srgbClr val="BFB2A7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781050" y="38862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Operations &amp; hiring</a:t>
            </a:r>
            <a:endParaRPr sz="900" b="1">
              <a:solidFill>
                <a:srgbClr val="D9CDB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0" name="Rectangles 19"/>
          <p:cNvSpPr>
            <a:spLocks noGrp="1"/>
          </p:cNvSpPr>
          <p:nvPr/>
        </p:nvSpPr>
        <p:spPr>
          <a:xfrm>
            <a:off x="2743200" y="3924300"/>
            <a:ext cx="4095750" cy="228600"/>
          </a:xfrm>
          <a:prstGeom prst="rect">
            <a:avLst/>
          </a:prstGeom>
          <a:solidFill>
            <a:srgbClr val="322B25"/>
          </a:solidFill>
          <a:ln w="0">
            <a:solidFill>
              <a:srgbClr val="322B25"/>
            </a:solidFill>
            <a:prstDash val="solid"/>
          </a:ln>
        </p:spPr>
      </p:sp>
      <p:sp>
        <p:nvSpPr>
          <p:cNvPr id="21" name="Rectangles 20"/>
          <p:cNvSpPr>
            <a:spLocks noGrp="1"/>
          </p:cNvSpPr>
          <p:nvPr/>
        </p:nvSpPr>
        <p:spPr>
          <a:xfrm>
            <a:off x="2743200" y="3924300"/>
            <a:ext cx="1064895" cy="2286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</p:sp>
      <p:sp>
        <p:nvSpPr>
          <p:cNvPr id="22" name="Rectangles 21"/>
          <p:cNvSpPr>
            <a:spLocks noGrp="1"/>
          </p:cNvSpPr>
          <p:nvPr/>
        </p:nvSpPr>
        <p:spPr>
          <a:xfrm>
            <a:off x="7067550" y="390525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13%</a:t>
            </a:r>
            <a:endParaRPr sz="1350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3" name="Rectangles 22"/>
          <p:cNvSpPr>
            <a:spLocks noGrp="1"/>
          </p:cNvSpPr>
          <p:nvPr/>
        </p:nvSpPr>
        <p:spPr>
          <a:xfrm>
            <a:off x="7810500" y="39433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support, legal, finance, marketplace readiness</a:t>
            </a:r>
            <a:endParaRPr sz="790" b="0">
              <a:solidFill>
                <a:srgbClr val="BFB2A7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781050" y="4419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1">
                <a:solidFill>
                  <a:srgbClr val="D9CDB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Buffer</a:t>
            </a:r>
            <a:endParaRPr sz="900" b="1">
              <a:solidFill>
                <a:srgbClr val="D9CDB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Rectangles 24"/>
          <p:cNvSpPr>
            <a:spLocks noGrp="1"/>
          </p:cNvSpPr>
          <p:nvPr/>
        </p:nvSpPr>
        <p:spPr>
          <a:xfrm>
            <a:off x="2743200" y="4457700"/>
            <a:ext cx="4095750" cy="228600"/>
          </a:xfrm>
          <a:prstGeom prst="rect">
            <a:avLst/>
          </a:prstGeom>
          <a:solidFill>
            <a:srgbClr val="322B25"/>
          </a:solidFill>
          <a:ln w="0">
            <a:solidFill>
              <a:srgbClr val="322B25"/>
            </a:solidFill>
            <a:prstDash val="solid"/>
          </a:ln>
        </p:spPr>
      </p:sp>
      <p:sp>
        <p:nvSpPr>
          <p:cNvPr id="26" name="Rectangles 25"/>
          <p:cNvSpPr>
            <a:spLocks noGrp="1"/>
          </p:cNvSpPr>
          <p:nvPr/>
        </p:nvSpPr>
        <p:spPr>
          <a:xfrm>
            <a:off x="2743200" y="4457700"/>
            <a:ext cx="1228725" cy="228600"/>
          </a:xfrm>
          <a:prstGeom prst="rect">
            <a:avLst/>
          </a:prstGeom>
          <a:solidFill>
            <a:srgbClr val="2B5C73"/>
          </a:solidFill>
          <a:ln w="0">
            <a:solidFill>
              <a:srgbClr val="2B5C73"/>
            </a:solidFill>
            <a:prstDash val="solid"/>
          </a:ln>
        </p:spPr>
      </p:sp>
      <p:sp>
        <p:nvSpPr>
          <p:cNvPr id="27" name="Rectangles 26"/>
          <p:cNvSpPr>
            <a:spLocks noGrp="1"/>
          </p:cNvSpPr>
          <p:nvPr/>
        </p:nvSpPr>
        <p:spPr>
          <a:xfrm>
            <a:off x="7067550" y="443865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350" b="1">
                <a:solidFill>
                  <a:srgbClr val="FFFDF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15%</a:t>
            </a:r>
            <a:endParaRPr sz="1350" b="1">
              <a:solidFill>
                <a:srgbClr val="FFFDF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28" name="Rectangles 27"/>
          <p:cNvSpPr>
            <a:spLocks noGrp="1"/>
          </p:cNvSpPr>
          <p:nvPr/>
        </p:nvSpPr>
        <p:spPr>
          <a:xfrm>
            <a:off x="7810500" y="44767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90" b="0">
                <a:solidFill>
                  <a:srgbClr val="BFB2A7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construction cycles and trust-building runway</a:t>
            </a:r>
            <a:endParaRPr sz="790" b="0">
              <a:solidFill>
                <a:srgbClr val="BFB2A7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9" name="Rectangles 28"/>
          <p:cNvSpPr>
            <a:spLocks noGrp="1"/>
          </p:cNvSpPr>
          <p:nvPr/>
        </p:nvSpPr>
        <p:spPr>
          <a:xfrm>
            <a:off x="781050" y="518160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E2A549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sz="1875" b="1">
                <a:solidFill>
                  <a:srgbClr val="E2A549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Funding milestone</a:t>
            </a:r>
            <a:endParaRPr sz="1875" b="1">
              <a:solidFill>
                <a:srgbClr val="E2A549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sp>
        <p:nvSpPr>
          <p:cNvPr id="30" name="Rectangles 29"/>
          <p:cNvSpPr>
            <a:spLocks noGrp="1"/>
          </p:cNvSpPr>
          <p:nvPr/>
        </p:nvSpPr>
        <p:spPr>
          <a:xfrm>
            <a:off x="3524250" y="5191125"/>
            <a:ext cx="6905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DF9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Paid clarity, repeat project-room usage, and marketplace/RFQ signal strong enough for the next institutional round.</a:t>
            </a:r>
            <a:endParaRPr sz="1275" b="1">
              <a:solidFill>
                <a:srgbClr val="FFFDF9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1" name="Rectangles 30"/>
          <p:cNvSpPr>
            <a:spLocks noGrp="1"/>
          </p:cNvSpPr>
          <p:nvPr/>
        </p:nvSpPr>
        <p:spPr>
          <a:xfrm>
            <a:off x="666750" y="6286500"/>
            <a:ext cx="876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A99C90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40" b="0">
                <a:solidFill>
                  <a:srgbClr val="A99C90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Indicative allocation only. Align exact round size and terms with counsel and investor lead.</a:t>
            </a:r>
            <a:endParaRPr sz="640" b="0">
              <a:solidFill>
                <a:srgbClr val="A99C90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2" name="Rectangles 31"/>
          <p:cNvSpPr>
            <a:spLocks noGrp="1"/>
          </p:cNvSpPr>
          <p:nvPr/>
        </p:nvSpPr>
        <p:spPr>
          <a:xfrm>
            <a:off x="10429875" y="6267450"/>
            <a:ext cx="52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E2A54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825" b="1">
                <a:solidFill>
                  <a:srgbClr val="E2A54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08</a:t>
            </a:r>
            <a:endParaRPr sz="825" b="1">
              <a:solidFill>
                <a:srgbClr val="E2A54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4149</Words>
  <Application>WPS Presentation</Application>
  <PresentationFormat>Converted Presentation</PresentationFormat>
  <Paragraphs>282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Avenir Next</vt:lpstr>
      <vt:lpstr>Georgia</vt:lpstr>
      <vt:lpstr>Menlo</vt:lpstr>
      <vt:lpstr>Microsoft YaHei</vt:lpstr>
      <vt:lpstr>汉仪旗黑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mokshith</cp:lastModifiedBy>
  <cp:revision>1</cp:revision>
  <dcterms:created xsi:type="dcterms:W3CDTF">2026-05-21T21:40:08Z</dcterms:created>
  <dcterms:modified xsi:type="dcterms:W3CDTF">2026-05-21T21:40:08Z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898D690DF718A122B87B0F6A41C7DAAC_42</vt:lpwstr>
  </property>
  <property fmtid="{D5CDD505-2E9C-101B-9397-08002B2CF9AE}" pid="3" name="KSOProductBuildVer">
    <vt:lpwstr>1033-12.1.23152.23152</vt:lpwstr>
  </property>
</Properties>
</file>